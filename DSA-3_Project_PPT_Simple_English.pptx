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altLang="en-US" sz="4000" b="1" dirty="0">
                <a:solidFill>
                  <a:srgbClr val="C00000"/>
                </a:solidFill>
                <a:latin typeface="+mn-lt"/>
              </a:rPr>
              <a:t>Citation Flow Analysis for Identifying Influential Research Papers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M.Jagadish Krishna-2520030165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Sai Teja-2520030241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P.Venkata Sri Sai Madhurima-2520030182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Guided by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</a:rPr>
              <a:t>Prof.Anuradha</a:t>
            </a:r>
          </a:p>
          <a:p>
            <a:r>
              <a:rPr lang="en-US" b="1" dirty="0">
                <a:solidFill>
                  <a:srgbClr val="C00000"/>
                </a:solidFill>
              </a:rPr>
              <a:t>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200000" y="1250000"/>
            <a:ext cx="6600000" cy="5200000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Research papers cite other papers. Together they form a </a:t>
            </a:r>
            <a:r>
              <a:rPr lang="en-US" sz="2600" b="1" dirty="0">
                <a:solidFill>
                  <a:schemeClr val="tx1"/>
                </a:solidFill>
              </a:rPr>
              <a:t>network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Each paper is a </a:t>
            </a:r>
            <a:r>
              <a:rPr lang="en-US" sz="2600" b="1" dirty="0">
                <a:solidFill>
                  <a:schemeClr val="tx1"/>
                </a:solidFill>
              </a:rPr>
              <a:t>node</a:t>
            </a:r>
            <a:r>
              <a:rPr lang="en-US" sz="2600" dirty="0">
                <a:solidFill>
                  <a:schemeClr val="tx1"/>
                </a:solidFill>
              </a:rPr>
              <a:t> and each citation is a </a:t>
            </a:r>
            <a:r>
              <a:rPr lang="en-US" sz="2600" b="1" dirty="0">
                <a:solidFill>
                  <a:schemeClr val="tx1"/>
                </a:solidFill>
              </a:rPr>
              <a:t>directed link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We built the graph from the Cora dataset using Java.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We use </a:t>
            </a:r>
            <a:r>
              <a:rPr lang="en-US" sz="2600" b="1" dirty="0">
                <a:solidFill>
                  <a:schemeClr val="tx1"/>
                </a:solidFill>
              </a:rPr>
              <a:t>BFS</a:t>
            </a:r>
            <a:r>
              <a:rPr lang="en-US" sz="2600" dirty="0">
                <a:solidFill>
                  <a:schemeClr val="tx1"/>
                </a:solidFill>
              </a:rPr>
              <a:t> and </a:t>
            </a:r>
            <a:r>
              <a:rPr lang="en-US" sz="2600" b="1" dirty="0">
                <a:solidFill>
                  <a:schemeClr val="tx1"/>
                </a:solidFill>
              </a:rPr>
              <a:t>DFS</a:t>
            </a:r>
            <a:r>
              <a:rPr lang="en-US" sz="2600" dirty="0">
                <a:solidFill>
                  <a:schemeClr val="tx1"/>
                </a:solidFill>
              </a:rPr>
              <a:t> to explore the graph from any paper.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We also count citations to find the most cited papers.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This helps students see how ideas spread between papers.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00000" y="1250000"/>
            <a:ext cx="6600000" cy="52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Papers cite earlier papers, so research forms a big network.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When there are many papers, it is hard to see which ones matter.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We store the papers as a </a:t>
            </a:r>
            <a:r>
              <a:rPr lang="en-US" sz="2600" b="1" dirty="0">
                <a:solidFill>
                  <a:schemeClr val="tx1"/>
                </a:solidFill>
              </a:rPr>
              <a:t>directed graph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BFS</a:t>
            </a:r>
            <a:r>
              <a:rPr lang="en-US" sz="2600" dirty="0">
                <a:solidFill>
                  <a:schemeClr val="tx1"/>
                </a:solidFill>
              </a:rPr>
              <a:t> and </a:t>
            </a:r>
            <a:r>
              <a:rPr lang="en-US" sz="2600" b="1" dirty="0">
                <a:solidFill>
                  <a:schemeClr val="tx1"/>
                </a:solidFill>
              </a:rPr>
              <a:t>DFS</a:t>
            </a:r>
            <a:r>
              <a:rPr lang="en-US" sz="2600" dirty="0">
                <a:solidFill>
                  <a:schemeClr val="tx1"/>
                </a:solidFill>
              </a:rPr>
              <a:t> show how citations move from paper to paper.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project uses simple Java code and no heavy tools.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29C7E-C3A1-4001-0295-81B6EB144CED}"/>
              </a:ext>
            </a:extLst>
          </p:cNvPr>
          <p:cNvSpPr txBox="1"/>
          <p:nvPr/>
        </p:nvSpPr>
        <p:spPr>
          <a:xfrm>
            <a:off x="3200000" y="1250000"/>
            <a:ext cx="6600000" cy="52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Old way: </a:t>
            </a:r>
            <a:r>
              <a:rPr lang="en-US" sz="2300" dirty="0">
                <a:solidFill>
                  <a:schemeClr val="tx1"/>
                </a:solidFill>
              </a:rPr>
              <a:t>count how many times a paper is cited. Counts alone do not show how papers are connected.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Graph way: </a:t>
            </a:r>
            <a:r>
              <a:rPr lang="en-US" sz="2300" dirty="0">
                <a:solidFill>
                  <a:schemeClr val="tx1"/>
                </a:solidFill>
              </a:rPr>
              <a:t>papers are nodes and citations are edges.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BFS</a:t>
            </a:r>
            <a:r>
              <a:rPr lang="en-US" sz="2300" dirty="0">
                <a:solidFill>
                  <a:schemeClr val="tx1"/>
                </a:solidFill>
              </a:rPr>
              <a:t> explores level by level. </a:t>
            </a:r>
            <a:r>
              <a:rPr lang="en-US" sz="2300" b="1" dirty="0">
                <a:solidFill>
                  <a:schemeClr val="tx1"/>
                </a:solidFill>
              </a:rPr>
              <a:t>DFS</a:t>
            </a:r>
            <a:r>
              <a:rPr lang="en-US" sz="2300" dirty="0">
                <a:solidFill>
                  <a:schemeClr val="tx1"/>
                </a:solidFill>
              </a:rPr>
              <a:t> goes deep along one path first.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Advanced tools: </a:t>
            </a:r>
            <a:r>
              <a:rPr lang="en-US" sz="2300" dirty="0">
                <a:solidFill>
                  <a:schemeClr val="tx1"/>
                </a:solidFill>
              </a:rPr>
              <a:t>such as PageRank, need big data and heavy software.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300" b="1" dirty="0">
                <a:solidFill>
                  <a:schemeClr val="tx1"/>
                </a:solidFill>
              </a:rPr>
              <a:t>Our project: </a:t>
            </a:r>
            <a:r>
              <a:rPr lang="en-US" sz="2300" dirty="0">
                <a:solidFill>
                  <a:schemeClr val="tx1"/>
                </a:solidFill>
              </a:rPr>
              <a:t>a simple Java version using graphs, BFS and DFS.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11D75-821D-D8AC-4672-E4F20316616B}"/>
              </a:ext>
            </a:extLst>
          </p:cNvPr>
          <p:cNvSpPr txBox="1"/>
          <p:nvPr/>
        </p:nvSpPr>
        <p:spPr>
          <a:xfrm>
            <a:off x="3200000" y="1150000"/>
            <a:ext cx="6600000" cy="5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Problem: </a:t>
            </a:r>
            <a:r>
              <a:rPr lang="en-US" sz="2400" dirty="0">
                <a:solidFill>
                  <a:schemeClr val="tx1"/>
                </a:solidFill>
              </a:rPr>
              <a:t>Papers are linked by many citations. It is hard to understand them by hand.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2600" b="1" dirty="0">
                <a:solidFill>
                  <a:schemeClr val="tx1"/>
                </a:solidFill>
              </a:rPr>
              <a:t>Objectives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Show papers as nodes and citations as directed edges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Build and display the citation graph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Use BFS and DFS to explore citations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Study how papers are connected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Build a simple Java program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Prepare for future work such as influence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D9194-6BEF-E936-29F3-BC78FCAE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991" y="1276708"/>
            <a:ext cx="6424017" cy="5149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7DCDD-7A30-9081-24BD-DCC2C3B5651B}"/>
              </a:ext>
            </a:extLst>
          </p:cNvPr>
          <p:cNvSpPr txBox="1"/>
          <p:nvPr/>
        </p:nvSpPr>
        <p:spPr>
          <a:xfrm>
            <a:off x="3200000" y="1100000"/>
            <a:ext cx="6600000" cy="32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Each paper is a node. Each citation is a link.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Start from any paper, for example </a:t>
            </a:r>
            <a:r>
              <a:rPr lang="en-US" sz="2100" b="1" dirty="0">
                <a:solidFill>
                  <a:schemeClr val="tx1"/>
                </a:solidFill>
              </a:rPr>
              <a:t>P103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BFS</a:t>
            </a:r>
            <a:r>
              <a:rPr lang="en-US" sz="2100" dirty="0">
                <a:solidFill>
                  <a:schemeClr val="tx1"/>
                </a:solidFill>
              </a:rPr>
              <a:t> goes level by level: P103 → P105 → P110 → P115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DFS</a:t>
            </a:r>
            <a:r>
              <a:rPr lang="en-US" sz="2100" dirty="0">
                <a:solidFill>
                  <a:schemeClr val="tx1"/>
                </a:solidFill>
              </a:rPr>
              <a:t> goes deep on one path first: P103 → P105 → P110 → P120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The screenshot shows papers per subject and the top cited papers.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FDDA4-40B1-0F46-AE39-208A318E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63" y="4462470"/>
            <a:ext cx="4597879" cy="2173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349433" y="360020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30276-647B-976D-85A0-6122611A57EB}"/>
              </a:ext>
            </a:extLst>
          </p:cNvPr>
          <p:cNvSpPr txBox="1"/>
          <p:nvPr/>
        </p:nvSpPr>
        <p:spPr>
          <a:xfrm>
            <a:off x="3200000" y="1500000"/>
            <a:ext cx="3200000" cy="4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Hardware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Intel Core i3 or above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4 GB RAM minimum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1 GB free storage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Keyboard and mouse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Internet connection</a:t>
            </a:r>
          </a:p>
        </p:txBody>
      </p:sp>
      <p:sp>
        <p:nvSpPr>
          <p:cNvPr id="20" name="TextBox Software"/>
          <p:cNvSpPr txBox="1"/>
          <p:nvPr/>
        </p:nvSpPr>
        <p:spPr>
          <a:xfrm>
            <a:off x="6500000" y="1500000"/>
            <a:ext cx="3300000" cy="45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800" b="1" dirty="0">
                <a:solidFill>
                  <a:schemeClr val="tx1"/>
                </a:solidFill>
              </a:rPr>
              <a:t>Software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Windows, Linux or macOS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Java JDK 17 or above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Visual Studio Code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Cora dataset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Directed graph with BFS and DFS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9B062-C737-1045-C88D-3183AE4BD3DC}"/>
              </a:ext>
            </a:extLst>
          </p:cNvPr>
          <p:cNvSpPr txBox="1"/>
          <p:nvPr/>
        </p:nvSpPr>
        <p:spPr>
          <a:xfrm>
            <a:off x="3200000" y="1250000"/>
            <a:ext cx="6600000" cy="52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Papers are nodes and citations are directed edges.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BFS</a:t>
            </a:r>
            <a:r>
              <a:rPr lang="en-US" sz="2600" dirty="0">
                <a:solidFill>
                  <a:schemeClr val="tx1"/>
                </a:solidFill>
              </a:rPr>
              <a:t> goes level by level. </a:t>
            </a:r>
            <a:r>
              <a:rPr lang="en-US" sz="2600" b="1" dirty="0">
                <a:solidFill>
                  <a:schemeClr val="tx1"/>
                </a:solidFill>
              </a:rPr>
              <a:t>DFS</a:t>
            </a:r>
            <a:r>
              <a:rPr lang="en-US" sz="2600" dirty="0">
                <a:solidFill>
                  <a:schemeClr val="tx1"/>
                </a:solidFill>
              </a:rPr>
              <a:t> goes deep first.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The project shows how graphs and algorithms solve a real problem.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It is a good base for more advanced citation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DA360-CC50-7DD8-5609-E8EC98F709AD}"/>
              </a:ext>
            </a:extLst>
          </p:cNvPr>
          <p:cNvSpPr txBox="1"/>
          <p:nvPr/>
        </p:nvSpPr>
        <p:spPr>
          <a:xfrm>
            <a:off x="3200000" y="1250000"/>
            <a:ext cx="6600000" cy="520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Use bigger citation datasets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Add </a:t>
            </a:r>
            <a:r>
              <a:rPr lang="en-US" sz="2600" b="1" dirty="0">
                <a:solidFill>
                  <a:schemeClr val="tx1"/>
                </a:solidFill>
              </a:rPr>
              <a:t>PageRank</a:t>
            </a:r>
            <a:r>
              <a:rPr lang="en-US" sz="2600" dirty="0">
                <a:solidFill>
                  <a:schemeClr val="tx1"/>
                </a:solidFill>
              </a:rPr>
              <a:t> and centrality to find key papers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Draw the citation graph visually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Connect a database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Study research trends</a:t>
            </a:r>
          </a:p>
          <a:p>
            <a:pPr marL="342900" indent="-342900">
              <a:spcAft>
                <a:spcPts val="900"/>
              </a:spcAft>
              <a:buFont typeface="Arial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Use machine learning for deeper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1037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       Data Structures and Algorithms -3 (25CS2103E)  Citation Flow Analysis for Identifying Influential Research Papers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Sunny I</cp:lastModifiedBy>
  <cp:revision>25</cp:revision>
  <dcterms:created xsi:type="dcterms:W3CDTF">2024-08-29T05:25:00Z</dcterms:created>
  <dcterms:modified xsi:type="dcterms:W3CDTF">2026-09-28T07:09:39Z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1033-12.1.0.28032</vt:lpwstr>
  </property>
</Properties>
</file>